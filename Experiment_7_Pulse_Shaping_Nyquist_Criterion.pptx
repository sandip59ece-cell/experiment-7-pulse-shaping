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ED7F0"/>
                </a:solidFill>
              </a:defRPr>
            </a:pPr>
            <a:r>
              <a:t>EXPERIMENT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Pulse Shaping and the Nyquist Criterion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86200"/>
            <a:ext cx="1051560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>
                <a:solidFill>
                  <a:srgbClr val="00B050"/>
                </a:solidFill>
                <a:latin typeface="Arial Black" panose="020B0A04020102020204" pitchFamily="34" charset="0"/>
              </a:rPr>
              <a:t>Digital Communication Laboratory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>
                <a:solidFill>
                  <a:srgbClr val="00B050"/>
                </a:solidFill>
                <a:latin typeface="Arial Black" panose="020B0A04020102020204" pitchFamily="34" charset="0"/>
              </a:rPr>
              <a:t>Raised-Cosine (RC) and Root-Raised-Cosine (RRC) filters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dirty="0">
                <a:solidFill>
                  <a:srgbClr val="00B050"/>
                </a:solidFill>
                <a:latin typeface="Arial Black" panose="020B0A04020102020204" pitchFamily="34" charset="0"/>
              </a:rPr>
              <a:t>Python simulation + graphical validation</a:t>
            </a:r>
            <a:endParaRPr lang="en-US" dirty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endParaRPr lang="en-IN" dirty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endParaRPr lang="en-IN" dirty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lang="en-IN" dirty="0">
                <a:solidFill>
                  <a:schemeClr val="bg2"/>
                </a:solidFill>
                <a:latin typeface="Arial Black" panose="020B0A04020102020204" pitchFamily="34" charset="0"/>
              </a:rPr>
              <a:t>NAME</a:t>
            </a:r>
            <a:r>
              <a:rPr lang="en-IN" dirty="0">
                <a:solidFill>
                  <a:srgbClr val="00B050"/>
                </a:solidFill>
                <a:latin typeface="Arial Black" panose="020B0A04020102020204" pitchFamily="34" charset="0"/>
              </a:rPr>
              <a:t> : SANDIP SINGHA     </a:t>
            </a:r>
            <a:r>
              <a:rPr lang="en-IN" dirty="0">
                <a:solidFill>
                  <a:schemeClr val="bg2"/>
                </a:solidFill>
                <a:latin typeface="Arial Black" panose="020B0A04020102020204" pitchFamily="34" charset="0"/>
              </a:rPr>
              <a:t>DEPT</a:t>
            </a:r>
            <a:r>
              <a:rPr lang="en-IN" dirty="0">
                <a:solidFill>
                  <a:srgbClr val="00B050"/>
                </a:solidFill>
                <a:latin typeface="Arial Black" panose="020B0A04020102020204" pitchFamily="34" charset="0"/>
              </a:rPr>
              <a:t>: ECE      </a:t>
            </a:r>
            <a:r>
              <a:rPr lang="en-IN" dirty="0">
                <a:solidFill>
                  <a:schemeClr val="bg2"/>
                </a:solidFill>
                <a:latin typeface="Arial Black" panose="020B0A04020102020204" pitchFamily="34" charset="0"/>
              </a:rPr>
              <a:t>YEAR</a:t>
            </a:r>
            <a:r>
              <a:rPr lang="en-IN" dirty="0">
                <a:solidFill>
                  <a:srgbClr val="00B050"/>
                </a:solidFill>
                <a:latin typeface="Arial Black" panose="020B0A04020102020204" pitchFamily="34" charset="0"/>
              </a:rPr>
              <a:t>: 3 RD        </a:t>
            </a:r>
            <a:r>
              <a:rPr lang="en-IN" dirty="0">
                <a:solidFill>
                  <a:schemeClr val="bg2"/>
                </a:solidFill>
                <a:latin typeface="Arial Black" panose="020B0A04020102020204" pitchFamily="34" charset="0"/>
              </a:rPr>
              <a:t>ROLL NO</a:t>
            </a:r>
            <a:r>
              <a:rPr lang="en-IN" dirty="0">
                <a:solidFill>
                  <a:srgbClr val="00B050"/>
                </a:solidFill>
                <a:latin typeface="Arial Black" panose="020B0A04020102020204" pitchFamily="34" charset="0"/>
              </a:rPr>
              <a:t>: 34900324050</a:t>
            </a:r>
            <a:endParaRPr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1.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Compare rectangular, sinc, raised-cosine and root-raised-cosine pulse shapes.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Study the bandwidth–time-domain trade-off controlled by roll-off factor α.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Verify Nyquist zero crossings at integer symbol intervals.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Observe pulse shaping of a binary symbol stream.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Understand why RRC filters are commonly split between transmitter and receiver.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2. Implementation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Create an upsampled symbol impulse train.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Generate RC filters for α = 0.25, 0.5 and 1.0.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Generate RRC filters directly from the mathematical definition.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Plot pulse and frequency responses.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Sample the overall RC response at integer symbol intervals and tabulate the values.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Compare RRC transmitter + receiver cascade with the RC response.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3. Pulse Shaping — Basic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Pulse shaping controls the spectrum of transmitted symbols and limits inter-symbol interference (ISI).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A symbol impulse train is convolved with a pulse h(t).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At the receiver, the sampled pulse should ideally be 1 at the desired symbol and 0 at all other symbol times.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Different pulse shapes offer different compromises between bandwidth, time-domain duration and implementation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4. Pulse-Shaping Communication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743200"/>
            <a:ext cx="1188720" cy="914400"/>
          </a:xfrm>
          <a:prstGeom prst="roundRect">
            <a:avLst/>
          </a:prstGeom>
          <a:solidFill>
            <a:srgbClr val="EEF4F9"/>
          </a:solidFill>
          <a:ln>
            <a:solidFill>
              <a:srgbClr val="22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Binary symbols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536192" y="2999232"/>
            <a:ext cx="502920" cy="365760"/>
          </a:xfrm>
          <a:prstGeom prst="rightArrow">
            <a:avLst/>
          </a:prstGeom>
          <a:solidFill>
            <a:srgbClr val="E3A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23160" y="2743200"/>
            <a:ext cx="1188720" cy="914400"/>
          </a:xfrm>
          <a:prstGeom prst="roundRect">
            <a:avLst/>
          </a:prstGeom>
          <a:solidFill>
            <a:srgbClr val="EEF4F9"/>
          </a:solidFill>
          <a:ln>
            <a:solidFill>
              <a:srgbClr val="22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 err="1">
                <a:solidFill>
                  <a:schemeClr val="tx1"/>
                </a:solidFill>
              </a:rPr>
              <a:t>Upsampler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(↑SPS)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39312" y="2999232"/>
            <a:ext cx="502920" cy="365760"/>
          </a:xfrm>
          <a:prstGeom prst="rightArrow">
            <a:avLst/>
          </a:prstGeom>
          <a:solidFill>
            <a:srgbClr val="E3A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26279" y="2743200"/>
            <a:ext cx="1188720" cy="914400"/>
          </a:xfrm>
          <a:prstGeom prst="roundRect">
            <a:avLst/>
          </a:prstGeom>
          <a:solidFill>
            <a:srgbClr val="EEF4F9"/>
          </a:solidFill>
          <a:ln>
            <a:solidFill>
              <a:srgbClr val="22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Tx filter</a:t>
            </a:r>
          </a:p>
          <a:p>
            <a:r>
              <a:rPr dirty="0">
                <a:solidFill>
                  <a:schemeClr val="tx1"/>
                </a:solidFill>
              </a:rPr>
              <a:t>RRC / RC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42431" y="2999232"/>
            <a:ext cx="502920" cy="365760"/>
          </a:xfrm>
          <a:prstGeom prst="rightArrow">
            <a:avLst/>
          </a:prstGeom>
          <a:solidFill>
            <a:srgbClr val="E3A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56832" y="2743200"/>
            <a:ext cx="1188720" cy="914400"/>
          </a:xfrm>
          <a:prstGeom prst="roundRect">
            <a:avLst/>
          </a:prstGeom>
          <a:solidFill>
            <a:srgbClr val="EEF4F9"/>
          </a:solidFill>
          <a:ln>
            <a:solidFill>
              <a:srgbClr val="22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Channel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5552" y="2999232"/>
            <a:ext cx="502920" cy="365760"/>
          </a:xfrm>
          <a:prstGeom prst="rightArrow">
            <a:avLst/>
          </a:prstGeom>
          <a:solidFill>
            <a:srgbClr val="E3A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32519" y="2743200"/>
            <a:ext cx="1188720" cy="914400"/>
          </a:xfrm>
          <a:prstGeom prst="roundRect">
            <a:avLst/>
          </a:prstGeom>
          <a:solidFill>
            <a:srgbClr val="EEF4F9"/>
          </a:solidFill>
          <a:ln>
            <a:solidFill>
              <a:srgbClr val="22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Rx filter</a:t>
            </a:r>
          </a:p>
          <a:p>
            <a:r>
              <a:rPr dirty="0">
                <a:solidFill>
                  <a:schemeClr val="tx1"/>
                </a:solidFill>
              </a:rPr>
              <a:t>RRC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948672" y="2999232"/>
            <a:ext cx="502920" cy="365760"/>
          </a:xfrm>
          <a:prstGeom prst="rightArrow">
            <a:avLst/>
          </a:prstGeom>
          <a:solidFill>
            <a:srgbClr val="E3A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378440" y="2743200"/>
            <a:ext cx="1188720" cy="914400"/>
          </a:xfrm>
          <a:prstGeom prst="roundRect">
            <a:avLst/>
          </a:prstGeom>
          <a:solidFill>
            <a:srgbClr val="EEF4F9"/>
          </a:solidFill>
          <a:ln>
            <a:solidFill>
              <a:srgbClr val="22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Sampler</a:t>
            </a:r>
          </a:p>
          <a:p>
            <a:r>
              <a:rPr dirty="0">
                <a:solidFill>
                  <a:schemeClr val="tx1"/>
                </a:solidFill>
              </a:rPr>
              <a:t>at </a:t>
            </a:r>
            <a:r>
              <a:rPr dirty="0" err="1">
                <a:solidFill>
                  <a:schemeClr val="tx1"/>
                </a:solidFill>
              </a:rPr>
              <a:t>kT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63759"/>
                </a:solidFill>
              </a:defRPr>
            </a:pPr>
            <a:r>
              <a:t>Key condition: the combined Tx–Rx response should satisfy the Nyquist zero-ISI criterion.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5. Raised-Cosine (RC) Pulse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3657600"/>
          </a:xfrm>
          <a:prstGeom prst="roundRect">
            <a:avLst/>
          </a:prstGeom>
          <a:solidFill>
            <a:srgbClr val="F6F8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527048"/>
            <a:ext cx="10186416" cy="3438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  <a:latin typeface="Consolas"/>
              </a:defRPr>
            </a:pPr>
            <a:r>
              <a:t>h_RC(t) = sinc(t/T) · cos(παt/T) / [1 − (2αt/T)²]</a:t>
            </a:r>
            <a:br/>
            <a:br/>
            <a:r>
              <a:t>where   sinc(x) = sin(πx)/(πx)</a:t>
            </a:r>
            <a:br/>
            <a:r>
              <a:t>        T = symbol period</a:t>
            </a:r>
            <a:br/>
            <a:r>
              <a:t>        α = roll-off factor, 0 ≤ α ≤ 1</a:t>
            </a:r>
            <a:br/>
            <a:br/>
            <a:r>
              <a:t>Special case at t = ±T/(2α):</a:t>
            </a:r>
            <a:br/>
            <a:r>
              <a:t>use the analytical limit instead of direct division.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578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Increasing α makes the transition band wider and the time-domain pulse more compact.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6. Root-Raised-Cosine (RRC) Pulse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789920" cy="3886200"/>
          </a:xfrm>
          <a:prstGeom prst="roundRect">
            <a:avLst/>
          </a:prstGeom>
          <a:solidFill>
            <a:srgbClr val="F6F8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481328"/>
            <a:ext cx="10460736" cy="3666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  <a:latin typeface="Consolas"/>
              </a:defRPr>
            </a:pPr>
            <a:r>
              <a:t>h_RRC(t) = [ sin(π(1−α)t/T) + 4α(t/T)cos(π(1+α)t/T) ]</a:t>
            </a:r>
            <a:br/>
            <a:r>
              <a:t>          / [ π(t/T){1 − (4αt/T)²} ]</a:t>
            </a:r>
            <a:br/>
            <a:br/>
            <a:r>
              <a:t>Special points:</a:t>
            </a:r>
            <a:br/>
            <a:r>
              <a:t>t = 0 and t = ±T/(4α) are removable singularities.</a:t>
            </a:r>
            <a:br/>
            <a:r>
              <a:t>The implementation explicitly evaluates their analytical limits.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The RRC filter has a square-root spectrum; two matched RRC filters cascade to an RC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7. Nyquist Zero-ISI Criterion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4114800"/>
          </a:xfrm>
          <a:prstGeom prst="roundRect">
            <a:avLst/>
          </a:prstGeom>
          <a:solidFill>
            <a:srgbClr val="F6F8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1527048"/>
            <a:ext cx="10003536" cy="3895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323"/>
                </a:solidFill>
                <a:latin typeface="Consolas"/>
              </a:defRPr>
            </a:pPr>
            <a:r>
              <a:t>At the decision instants t = kT:</a:t>
            </a:r>
            <a:br/>
            <a:br/>
            <a:r>
              <a:t>h(0) = 1</a:t>
            </a:r>
            <a:br/>
            <a:r>
              <a:t>h(kT) = 0,   k = ±1, ±2, ±3, ...</a:t>
            </a:r>
            <a:br/>
            <a:br/>
            <a:r>
              <a:t>Therefore, when symbols are sampled at the correct symbol times,</a:t>
            </a:r>
            <a:br/>
            <a:r>
              <a:t>all neighbouring pulses contribute zero at the decision instant.</a:t>
            </a:r>
            <a:br/>
            <a:br/>
            <a:r>
              <a:t>Result: ideal sampling can recover the intended symbol without 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8. Bandwidth and Roll-Off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For symbol rate Rs = 1/T, the one-sided baseband bandwidth of an RC spectrum is: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B = (1 + α) Rs / 2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α = 0 gives the minimum Nyquist bandwidth but a slow-decaying sinc-like time response.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Larger α increases bandwidth but improves time-domain localization and eases timing/filter implementation.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For α = 0.25, 0.5, 1.0: B/Rs = 0.625, 0.75, 1.0.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9. Pulse Responses — RC and RRC</a:t>
            </a:r>
          </a:p>
        </p:txBody>
      </p:sp>
      <p:pic>
        <p:nvPicPr>
          <p:cNvPr id="4" name="Picture 3" descr="01_pulse_respo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10. Frequency Responses</a:t>
            </a:r>
          </a:p>
        </p:txBody>
      </p:sp>
      <p:pic>
        <p:nvPicPr>
          <p:cNvPr id="4" name="Picture 3" descr="02_frequency_respo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11. Nyquist Zero Crossings (RC, α = 0.5)</a:t>
            </a:r>
          </a:p>
        </p:txBody>
      </p:sp>
      <p:pic>
        <p:nvPicPr>
          <p:cNvPr id="4" name="Picture 3" descr="03_zero_cross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12. Pulse-Shaped Symbol Stream</a:t>
            </a:r>
          </a:p>
        </p:txBody>
      </p:sp>
      <p:pic>
        <p:nvPicPr>
          <p:cNvPr id="4" name="Picture 3" descr="04_pulse_shaped_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13. RRC Transmitter + Receiver</a:t>
            </a:r>
          </a:p>
        </p:txBody>
      </p:sp>
      <p:pic>
        <p:nvPicPr>
          <p:cNvPr id="4" name="Picture 3" descr="05_rrc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14. Bandwidth versus Roll-Off Factor</a:t>
            </a:r>
          </a:p>
        </p:txBody>
      </p:sp>
      <p:pic>
        <p:nvPicPr>
          <p:cNvPr id="4" name="Picture 3" descr="06_bandwidth_vs_roll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15. Mandatory Validation — Integer Symbol Intervals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325880"/>
          <a:ext cx="84124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t/T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RC h(kT), α=0.5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-5.0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-0.000000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-4.0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+0.000000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-3.0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+0.000000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-2.0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-0.000000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+0.000000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+1.000000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+0.000000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-0.000000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+0.000000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+0.000000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+5.0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-0.000000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16. Python Implementation — Core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25880"/>
            <a:ext cx="10424160" cy="4389120"/>
          </a:xfrm>
          <a:prstGeom prst="roundRect">
            <a:avLst/>
          </a:prstGeom>
          <a:solidFill>
            <a:srgbClr val="F6F8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435607"/>
            <a:ext cx="10094976" cy="4169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  <a:latin typeface="Consolas"/>
              </a:defRPr>
            </a:pPr>
            <a:r>
              <a:t>1. Define time vector and symbol period T</a:t>
            </a:r>
            <a:br/>
            <a:r>
              <a:t>2. rc_pulse(t, α): implement RC formula + singularity limits</a:t>
            </a:r>
            <a:br/>
            <a:r>
              <a:t>3. rrc_pulse(t, α): implement RRC formula + special points</a:t>
            </a:r>
            <a:br/>
            <a:r>
              <a:t>4. Use FFT to obtain normalized frequency response</a:t>
            </a:r>
            <a:br/>
            <a:r>
              <a:t>5. Upsample random ±1 symbols and convolve with RC pulse</a:t>
            </a:r>
            <a:br/>
            <a:r>
              <a:t>6. Cascade RRC with RRC and compare against RC</a:t>
            </a:r>
            <a:br/>
            <a:r>
              <a:t>7. Sample RC at kT and print validation table</a:t>
            </a:r>
            <a:br/>
            <a:r>
              <a:t>8. Save all plots to results/ for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17. Python Code — RC Function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972800" cy="4846320"/>
          </a:xfrm>
          <a:prstGeom prst="roundRect">
            <a:avLst/>
          </a:prstGeom>
          <a:solidFill>
            <a:srgbClr val="F6F8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344168"/>
            <a:ext cx="10643616" cy="4626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def rc_pulse(t, alpha, T=1.0):</a:t>
            </a:r>
            <a:br/>
            <a:r>
              <a:t>    x = t / T</a:t>
            </a:r>
            <a:br/>
            <a:r>
              <a:t>    h = np.sinc(x)</a:t>
            </a:r>
            <a:br/>
            <a:r>
              <a:t>    if alpha == 0:</a:t>
            </a:r>
            <a:br/>
            <a:r>
              <a:t>        return h</a:t>
            </a:r>
            <a:br/>
            <a:br/>
            <a:r>
              <a:t>    den = 1 - (2*alpha*x)**2</a:t>
            </a:r>
            <a:br/>
            <a:r>
              <a:t>    h = h * np.cos(np.pi*alpha*x) / den</a:t>
            </a:r>
            <a:br/>
            <a:br/>
            <a:r>
              <a:t>    # removable singularities: t = ±T/(2α)</a:t>
            </a:r>
            <a:br/>
            <a:r>
              <a:t>    singular = np.isclose(</a:t>
            </a:r>
            <a:br/>
            <a:r>
              <a:t>        np.abs(x), 1/(2*alpha), atol=1e-12</a:t>
            </a:r>
            <a:br/>
            <a:r>
              <a:t>    )</a:t>
            </a:r>
            <a:br/>
            <a:r>
              <a:t>    h[singular] = (np.pi/4) * np.sinc(1/(2*alpha))</a:t>
            </a:r>
            <a:br/>
            <a:r>
              <a:t>    return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18. Python Code — RRC Function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11064240" cy="5120640"/>
          </a:xfrm>
          <a:prstGeom prst="roundRect">
            <a:avLst/>
          </a:prstGeom>
          <a:solidFill>
            <a:srgbClr val="F6F8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252728"/>
            <a:ext cx="10735056" cy="4901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323"/>
                </a:solidFill>
                <a:latin typeface="Consolas"/>
              </a:defRPr>
            </a:pPr>
            <a:r>
              <a:t>def rrc_pulse(t, alpha, T=1.0):</a:t>
            </a:r>
            <a:br/>
            <a:r>
              <a:t>    x = t / T</a:t>
            </a:r>
            <a:br/>
            <a:r>
              <a:t>    h = np.zeros_like(x, dtype=float)</a:t>
            </a:r>
            <a:br/>
            <a:br/>
            <a:r>
              <a:t>    if alpha == 0:</a:t>
            </a:r>
            <a:br/>
            <a:r>
              <a:t>        return np.sinc(x)</a:t>
            </a:r>
            <a:br/>
            <a:br/>
            <a:r>
              <a:t>    for i, xi in enumerate(x):</a:t>
            </a:r>
            <a:br/>
            <a:r>
              <a:t>        if abs(xi) &lt; 1e-12:</a:t>
            </a:r>
            <a:br/>
            <a:r>
              <a:t>            h[i] = 1 + alpha*(4/np.pi - 1)</a:t>
            </a:r>
            <a:br/>
            <a:r>
              <a:t>        elif abs(abs(xi)-1/(4*alpha)) &lt; 1e-10:</a:t>
            </a:r>
            <a:br/>
            <a:r>
              <a:t>            h[i] = (alpha/np.sqrt(2))*(</a:t>
            </a:r>
            <a:br/>
            <a:r>
              <a:t>                (1+2/np.pi)*np.sin(np.pi/(4*alpha)) +</a:t>
            </a:r>
            <a:br/>
            <a:r>
              <a:t>                (1-2/np.pi)*np.cos(np.pi/(4*alpha))</a:t>
            </a:r>
            <a:br/>
            <a:r>
              <a:t>            )</a:t>
            </a:r>
            <a:br/>
            <a:r>
              <a:t>        else:</a:t>
            </a:r>
            <a:br/>
            <a:r>
              <a:t>            num = np.sin(np.pi*(1-alpha)*xi)                 + 4*alpha*xi*np.cos(np.pi*(1+alpha)*xi)</a:t>
            </a:r>
            <a:br/>
            <a:r>
              <a:t>            den = np.pi*xi*(1-(4*alpha*xi)**2)</a:t>
            </a:r>
            <a:br/>
            <a:r>
              <a:t>            h[i] = num/den</a:t>
            </a:r>
            <a:br/>
            <a:r>
              <a:t>    return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19. Observation and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Expected effect: increasing α widens the occupied bandwidth and shortens the pulse's effective time-domain spread.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Expected effect: RC pulses cross zero at integer multiples of T, preventing ISI at ideal decision instants.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RRC alone is not the final Nyquist response; the cascade of matched Tx/Rx RRC filters gives the RC response.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The validation table should show h(0) ≈ 1 and h(kT) ≈ 0 for every non-zero integer k.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Any small residual values are due to finite truncation and numerical sampling, not a failure of the Nyquist theory.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20. 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RC and RRC pulse responses were generated directly from their mathematical definitions.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Frequency responses showed the expected roll-off transition controlled by α.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Integer-symbol sampling confirmed the zero-crossing property of the RC pulse.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An upsampled binary symbol stream was pulse-shaped successfully.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Two RRC filters cascaded to an RC-like overall response.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Bandwidth increased linearly with roll-off according to B = (1+α)Rs/2.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21. Viva / Exam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1. What is pulse shaping and why is it required?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2. State the Nyquist criterion for zero ISI.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3. What does the roll-off factor α represent?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4. Compare RC and RRC filters.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5. Why are RRC filters split between transmitter and receiver?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6. What happens to bandwidth when α increases?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7. Why must removable singularities be handled in numerical code?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22. AI-Ready Prompt for Reproducing the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343400"/>
          </a:xfrm>
          <a:prstGeom prst="roundRect">
            <a:avLst/>
          </a:prstGeom>
          <a:solidFill>
            <a:srgbClr val="F6F8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481328"/>
            <a:ext cx="10600979" cy="18928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  <a:latin typeface="Consolas"/>
              </a:defRPr>
            </a:pPr>
            <a:r>
              <a:rPr dirty="0"/>
              <a:t>Generate raised-cosine (RC) and root-raised-cosine (RRC) filters directly from their mathematical definitions.</a:t>
            </a:r>
            <a:br>
              <a:rPr dirty="0"/>
            </a:br>
            <a:r>
              <a:rPr dirty="0"/>
              <a:t>Use T=1, SPS=64 and a finite span of 10 symbols. Handle the removable singularities explicitly.</a:t>
            </a:r>
            <a:br>
              <a:rPr dirty="0"/>
            </a:br>
            <a:r>
              <a:rPr dirty="0"/>
              <a:t>Generate RC for α = 0.25, 0.5 and 1.0; plot impulse and frequency responses.</a:t>
            </a:r>
            <a:br>
              <a:rPr dirty="0"/>
            </a:br>
            <a:r>
              <a:rPr dirty="0"/>
              <a:t>Create an </a:t>
            </a:r>
            <a:r>
              <a:rPr dirty="0" err="1"/>
              <a:t>upsampled</a:t>
            </a:r>
            <a:r>
              <a:rPr dirty="0"/>
              <a:t> ±1 symbol impulse train and pulse-shape it with RC.</a:t>
            </a:r>
            <a:br>
              <a:rPr dirty="0"/>
            </a:br>
            <a:r>
              <a:rPr dirty="0"/>
              <a:t>Verify the Nyquist criterion by sampling the overall RC response at integer symbol intervals and tabulating h(</a:t>
            </a:r>
            <a:r>
              <a:rPr dirty="0" err="1"/>
              <a:t>kT</a:t>
            </a:r>
            <a:r>
              <a:rPr dirty="0"/>
              <a:t>).</a:t>
            </a:r>
            <a:br>
              <a:rPr dirty="0"/>
            </a:br>
            <a:r>
              <a:rPr dirty="0"/>
              <a:t>Generate an RRC transmitter and receiver, convolve them, and compare the cascade with the RC response.</a:t>
            </a:r>
            <a:br>
              <a:rPr dirty="0"/>
            </a:br>
            <a:r>
              <a:rPr dirty="0"/>
              <a:t>Finally plot bandwidth B=(1+α)Rs/2 versus α.</a:t>
            </a:r>
            <a:br>
              <a:rPr dirty="0"/>
            </a:br>
            <a:r>
              <a:rPr dirty="0"/>
              <a:t>Explain the expected physical effect before each parameter sweep and interpret any discrepancy caused by finite </a:t>
            </a:r>
            <a:endParaRPr lang="en-US" dirty="0"/>
          </a:p>
          <a:p>
            <a:pPr>
              <a:defRPr sz="1300">
                <a:solidFill>
                  <a:srgbClr val="232323"/>
                </a:solidFill>
                <a:latin typeface="Consolas"/>
              </a:defRPr>
            </a:pPr>
            <a:r>
              <a:rPr dirty="0"/>
              <a:t>truncation or numerical precision.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9"/>
                </a:solidFill>
              </a:defRPr>
            </a:pPr>
            <a:r>
              <a:t>23. GitHub Submission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389120"/>
          </a:xfrm>
          <a:prstGeom prst="roundRect">
            <a:avLst/>
          </a:prstGeom>
          <a:solidFill>
            <a:srgbClr val="F6F8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1481328"/>
            <a:ext cx="10003536" cy="4169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  <a:latin typeface="Consolas"/>
              </a:defRPr>
            </a:pPr>
            <a:r>
              <a:t>experiment-7-pulse-shaping/</a:t>
            </a:r>
            <a:br/>
            <a:r>
              <a:t>├── experiment_7_pulse_shaping.py</a:t>
            </a:r>
            <a:br/>
            <a:r>
              <a:t>├── README.md</a:t>
            </a:r>
            <a:br/>
            <a:r>
              <a:t>├── requirements.txt</a:t>
            </a:r>
            <a:br/>
            <a:r>
              <a:t>└── results/</a:t>
            </a:r>
            <a:br/>
            <a:r>
              <a:t>    ├── 01_pulse_responses.png</a:t>
            </a:r>
            <a:br/>
            <a:r>
              <a:t>    ├── 02_frequency_responses.png</a:t>
            </a:r>
            <a:br/>
            <a:r>
              <a:t>    ├── 03_zero_crossings.png</a:t>
            </a:r>
            <a:br/>
            <a:r>
              <a:t>    ├── 04_pulse_shaped_stream.png</a:t>
            </a:r>
            <a:br/>
            <a:r>
              <a:t>    ├── 05_rrc_cascade.png</a:t>
            </a:r>
            <a:br/>
            <a:r>
              <a:t>    └── 06_bandwidth_vs_rolloff.png</a:t>
            </a:r>
            <a:br/>
            <a:br/>
            <a:r>
              <a:t>Recommended commit message:</a:t>
            </a:r>
            <a:br/>
            <a:r>
              <a:t>"Add Experiment 7 pulse shaping and Nyquist validation"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24.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>
                <a:solidFill>
                  <a:schemeClr val="bg2"/>
                </a:solidFill>
              </a:rPr>
              <a:t>Pulse shaping provides controlled bandwidth and limits inter-symbol interference.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>
                <a:solidFill>
                  <a:schemeClr val="bg2"/>
                </a:solidFill>
              </a:rPr>
              <a:t>Raised-cosine filtering satisfies the Nyquist zero-ISI criterion at symbol decision times.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>
                <a:solidFill>
                  <a:schemeClr val="bg2"/>
                </a:solidFill>
              </a:rPr>
              <a:t>Roll-off factor α controls the bandwidth–time-domain trade-off.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>
                <a:solidFill>
                  <a:schemeClr val="bg2"/>
                </a:solidFill>
              </a:rPr>
              <a:t>RRC filters are practical matched Tx/Rx components whose cascade forms the RC response.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>
                <a:solidFill>
                  <a:schemeClr val="bg2"/>
                </a:solidFill>
              </a:rPr>
              <a:t>Python simulation and mandatory sampling validation confirm the theoretical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Digital Communication Laboratory  |  Experiment 7  | 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2101</Words>
  <Application>Microsoft Office PowerPoint</Application>
  <PresentationFormat>Widescreen</PresentationFormat>
  <Paragraphs>158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SANDIP</dc:creator>
  <cp:keywords/>
  <dc:description>generated using python-pptx</dc:description>
  <cp:lastModifiedBy>Sandip Singha</cp:lastModifiedBy>
  <cp:revision>2</cp:revision>
  <dcterms:created xsi:type="dcterms:W3CDTF">2013-01-27T09:14:16Z</dcterms:created>
  <dcterms:modified xsi:type="dcterms:W3CDTF">2026-09-07T15:14:28Z</dcterms:modified>
  <cp:category/>
</cp:coreProperties>
</file>